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6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11A40-145D-3AEE-D452-11C8D0BC2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C73E40-4D5A-E4DA-B113-968986273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61BE65-F37B-014E-AB15-79A9307F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55D4ED-A850-CFB6-70F1-16CC70FA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67296-4897-D698-063B-1B39DAE0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19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FB9D8-E7DC-C17F-AE8F-CD65C2C7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3D630D-6BD4-52DD-F351-233C1E0B9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E5E730-1DDE-14E7-753F-23444744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EA2281-1481-7150-DEDA-02A97790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0A2CEE-CB90-A429-954A-07F3BC30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34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2CB99-0267-6EB7-2718-8A9AC5BD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70625E-C162-6A96-016F-02352FF25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0A5E-4D9F-1CF8-DFBA-F0E99842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2664D-8786-22C4-B3D8-0DA14FBD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73502-497D-2D93-493B-0A9A7986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34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D55FD-1EF3-4DB6-3D7F-EF3A02D6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D0B403-CC1A-735F-055F-E214AE863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A676AD-638C-1BD1-B75C-0E8C4B162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E59FE1-9067-701E-CA2D-C2255106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854F4A-7200-B806-409C-780123EE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6DAB33-B938-A997-2EE3-76F6583B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61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D8FCD-B70A-581C-BE1E-34927DD7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D1629-B9A1-D3E8-BCA0-766BB8367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A008C9-B0F7-17CC-A7F2-099A6C0DF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C020A-BA87-FFA4-AE48-10EF6D5C0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2377F4-DD79-A801-D30F-CE09EF9DA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F253A2-F73E-179A-DFED-109476D8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8E4EAE-08C5-765D-DC0E-DD4C21B3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9CC24F-2263-AD65-06DA-DD389B69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40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8D0D1-D719-6DA5-E67F-C81BAD59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89B270-14D6-C143-B649-D6373874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B40E70-BEF0-76B0-3B7A-D776C072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D66D0E-E95D-36ED-6395-0766E709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39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E3CAF8-79FE-1B02-C7A3-CF614563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67D24F-A3DF-06D3-9ACE-8B5D53D3E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D802BD-7541-6AF6-F353-66CE06B1C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2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B6CBD-7B64-C569-8AB7-B32A3514E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C5450A-228A-F2EF-399F-A01B3E734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4C66C6-7306-C866-02A6-347FECFC0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211E94-6602-FECE-0F95-76F5A7CB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AC7F9C-7BEB-56EB-3B36-B45B5001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C735E0-778B-29DF-7EDB-6AC2ADE9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66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E5A6C-B720-5F80-4D52-D099B1E8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E6EC0D-07DB-ACC5-8D53-8AD26E896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B39105-676E-80C7-1C79-A1FBC9502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B84EDD-39E0-1241-B422-1E31EB08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FE97AF-70DC-6DF4-BCFE-95A6072D5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420B22-EA44-94D6-6B01-1122694F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44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4DAFF-D92B-5BB6-5D00-CD867445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B76171-EB67-1B91-ED41-5F9781283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272D0F-6DB3-F372-7A16-CF473CF9C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4FC1D3-7968-094C-C638-B671BD3D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63E43F-2C49-BBB4-53B3-0AFAD85C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681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0986E3-2317-58F9-C288-83293327E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7171CE-6221-BADD-7448-ED6BBF0E6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12239-0706-D4CF-EF22-9BD8167E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97423C-B3C8-9A84-C4A1-DE327127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4AE531-DB6A-08BD-08EF-61F97C47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8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6D8B9C-5AE4-C4FF-7CA7-8A155B41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2EF984-D63A-BAA8-B731-16CD45692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009DF4-1050-84EC-D853-C6B582F3C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1171F-E708-4E79-BBE0-2504A0E3B29C}" type="datetimeFigureOut">
              <a:rPr lang="zh-CN" altLang="en-US" smtClean="0"/>
              <a:t>2025/10/1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9B7F2-3E0D-EADA-7671-A0EEB725F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60223B-7BB9-EAE9-B607-819CAD35B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8A7AF-232D-4DA7-987C-C3F55FD62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803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B0727A-AC55-B3B4-8252-CA41059CB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68729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/>
              <a:t>scanf</a:t>
            </a:r>
            <a:r>
              <a:rPr lang="en-US" altLang="zh-CN" dirty="0"/>
              <a:t>(“%f %</a:t>
            </a:r>
            <a:r>
              <a:rPr lang="en-US" altLang="zh-CN" dirty="0" err="1"/>
              <a:t>d”,&amp;a,&amp;b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 err="1"/>
              <a:t>Printf</a:t>
            </a:r>
            <a:r>
              <a:rPr lang="en-US" altLang="zh-CN" dirty="0"/>
              <a:t>(“%d”,(int)(a));#</a:t>
            </a:r>
            <a:r>
              <a:rPr lang="zh-CN" altLang="en-US"/>
              <a:t>强制类型转换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871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9CF86-6B64-BB9D-17D4-E2FC18DB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6E280A-11EF-5847-31B4-07F7A43BC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16783"/>
            <a:ext cx="8866022" cy="440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8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07457-B8AC-9703-80D3-E8B92A7E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如何区分形参和实参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3948BB-534D-A6EA-FE5F-46189C195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形参是一个抽象的概念，而实参更为具体。</a:t>
            </a:r>
            <a:endParaRPr lang="en-US" altLang="zh-CN" dirty="0"/>
          </a:p>
          <a:p>
            <a:r>
              <a:rPr lang="zh-CN" altLang="en-US" dirty="0"/>
              <a:t>比如名字是形参，小明是实参。</a:t>
            </a:r>
          </a:p>
        </p:txBody>
      </p:sp>
    </p:spTree>
    <p:extLst>
      <p:ext uri="{BB962C8B-B14F-4D97-AF65-F5344CB8AC3E}">
        <p14:creationId xmlns:p14="http://schemas.microsoft.com/office/powerpoint/2010/main" val="1437017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6CB5AEB-19FB-62BA-EB55-0BFEA82989B9}"/>
              </a:ext>
            </a:extLst>
          </p:cNvPr>
          <p:cNvSpPr txBox="1"/>
          <p:nvPr/>
        </p:nvSpPr>
        <p:spPr>
          <a:xfrm>
            <a:off x="1858061" y="950976"/>
            <a:ext cx="866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在一个工程里，可以有多个</a:t>
            </a:r>
            <a:r>
              <a:rPr lang="en-US" altLang="zh-CN" dirty="0"/>
              <a:t>.c</a:t>
            </a:r>
            <a:r>
              <a:rPr lang="zh-CN" altLang="en-US" dirty="0"/>
              <a:t>文件，但是只能有一个</a:t>
            </a:r>
            <a:r>
              <a:rPr lang="en-US" altLang="zh-CN" dirty="0"/>
              <a:t>main</a:t>
            </a:r>
            <a:r>
              <a:rPr lang="zh-CN" altLang="en-US" dirty="0"/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012626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DE7DE-436D-82DE-28D2-CCB92904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998BB-A2BF-36D2-B59E-F1CBE07E6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D228D4-0757-721D-14E8-1C4590F60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839" y="907062"/>
            <a:ext cx="7817301" cy="462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35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7AE71-EDED-27C4-DBFD-A2F8AB59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DB0916C-0061-32A0-5905-FCD7A0A70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918" y="1569593"/>
            <a:ext cx="7893773" cy="4351338"/>
          </a:xfrm>
        </p:spPr>
      </p:pic>
    </p:spTree>
    <p:extLst>
      <p:ext uri="{BB962C8B-B14F-4D97-AF65-F5344CB8AC3E}">
        <p14:creationId xmlns:p14="http://schemas.microsoft.com/office/powerpoint/2010/main" val="249993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99382-3D81-468B-E05D-C6E18F67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12334F-8785-61C7-4765-F4762423E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4690"/>
            <a:ext cx="61436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62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DA8D6-A2A6-0294-D209-79130741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空指针和野指针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B64EEB-6273-CAA4-2BBF-7782976270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8088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空指针：手里拿着 “无效门牌号”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ter"/>
              </a:rPr>
              <a:t>就像你手里的纸条上写着 “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这里没有房子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ter"/>
              </a:rPr>
              <a:t>”（比如 C 语言里的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  <a:ea typeface="Menlo"/>
              </a:rPr>
              <a:t>NULL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）。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你知道这个地址肯定找不到任何东西，系统也明确知道这是 “无效地址”。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比如你想访问这个地址时，系统会直接告诉你 “查无此址”（报错），不会瞎折腾。</a:t>
            </a:r>
            <a:endParaRPr kumimoji="0" lang="zh-CN" altLang="zh-CN" sz="1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野指针：手里拿着 “乱指的门牌号”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ter"/>
              </a:rPr>
              <a:t>可能有两种情况：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你手里的纸条是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随便写的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（比如指针没初始化，地址是乱的）；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这个门牌号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以前有效，但现在失效了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（比如指针指向的内存被释放了，房子拆了，但你还拿着旧地址）。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ter"/>
              </a:rPr>
              <a:t>关键是：你不知道这个门牌号指的是啥 —— 可能是别人家的房子（访问到其他数据），可能是禁区（访问到系统内存），也可能刚好是空的（暂时没出错）。</a:t>
            </a:r>
            <a:b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ter"/>
              </a:rPr>
            </a:b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ter"/>
              </a:rPr>
              <a:t>系统也不知道这地址有问题，你按这个地址闯进去，可能没事，也可能直接 “撞墙”（程序崩溃），甚至悄悄改了别人的数据（隐藏 bug），非常危险。</a:t>
            </a:r>
            <a:endParaRPr kumimoji="0" lang="zh-CN" altLang="zh-CN" sz="1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一句话总结：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空指针：“我明确知道这地方啥都没有”（安全，至少不会瞎搞）；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野指针：“我不知道这地方有啥，但我就往这闯”（危险，随时出问题）。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8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5466AE-1DF2-DE98-2454-82CAE79B9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581" y="-95733"/>
            <a:ext cx="10515600" cy="1325563"/>
          </a:xfrm>
        </p:spPr>
        <p:txBody>
          <a:bodyPr/>
          <a:lstStyle/>
          <a:p>
            <a:r>
              <a:rPr lang="zh-CN" altLang="en-US" dirty="0"/>
              <a:t>指针和地址的关系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2C3E4F-EDC9-4507-531E-E70CCE7A9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98" y="808813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b="1" dirty="0"/>
              <a:t>地址：就是 “收件地址”</a:t>
            </a:r>
          </a:p>
          <a:p>
            <a:r>
              <a:rPr lang="zh-CN" altLang="en-US" dirty="0"/>
              <a:t>电脑里的内存像无数个小格子（每个格子存数据），每个格子都有唯一编号，这就是</a:t>
            </a:r>
            <a:r>
              <a:rPr lang="zh-CN" altLang="en-US" b="1" dirty="0"/>
              <a:t>地址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比如 “</a:t>
            </a:r>
            <a:r>
              <a:rPr lang="en-US" altLang="zh-CN" dirty="0"/>
              <a:t>XX </a:t>
            </a:r>
            <a:r>
              <a:rPr lang="zh-CN" altLang="en-US" dirty="0"/>
              <a:t>小区 </a:t>
            </a:r>
            <a:r>
              <a:rPr lang="en-US" altLang="zh-CN" dirty="0"/>
              <a:t>3 </a:t>
            </a:r>
            <a:r>
              <a:rPr lang="zh-CN" altLang="en-US" dirty="0"/>
              <a:t>号楼 </a:t>
            </a:r>
            <a:r>
              <a:rPr lang="en-US" altLang="zh-CN" dirty="0"/>
              <a:t>502 </a:t>
            </a:r>
            <a:r>
              <a:rPr lang="zh-CN" altLang="en-US" dirty="0"/>
              <a:t>室”，这个具体的编号就是地址，明确指向一个地方。</a:t>
            </a:r>
          </a:p>
          <a:p>
            <a:r>
              <a:rPr lang="zh-CN" altLang="en-US" b="1" dirty="0"/>
              <a:t>指针：就是 “记着地址的小本本”</a:t>
            </a:r>
          </a:p>
          <a:p>
            <a:r>
              <a:rPr lang="zh-CN" altLang="en-US" dirty="0"/>
              <a:t>指针本质是个变量，但它不存普通数据（比如数字、文字），专门存 “地址”。</a:t>
            </a:r>
            <a:br>
              <a:rPr lang="zh-CN" altLang="en-US" dirty="0"/>
            </a:br>
            <a:r>
              <a:rPr lang="zh-CN" altLang="en-US" dirty="0"/>
              <a:t>就像你手里的小本本，上面只写着 “</a:t>
            </a:r>
            <a:r>
              <a:rPr lang="en-US" altLang="zh-CN" dirty="0"/>
              <a:t>XX </a:t>
            </a:r>
            <a:r>
              <a:rPr lang="zh-CN" altLang="en-US" dirty="0"/>
              <a:t>小区 </a:t>
            </a:r>
            <a:r>
              <a:rPr lang="en-US" altLang="zh-CN" dirty="0"/>
              <a:t>3 </a:t>
            </a:r>
            <a:r>
              <a:rPr lang="zh-CN" altLang="en-US" dirty="0"/>
              <a:t>号楼 </a:t>
            </a:r>
            <a:r>
              <a:rPr lang="en-US" altLang="zh-CN" dirty="0"/>
              <a:t>502 </a:t>
            </a:r>
            <a:r>
              <a:rPr lang="zh-CN" altLang="en-US" dirty="0"/>
              <a:t>室” 这个地址 </a:t>
            </a:r>
            <a:r>
              <a:rPr lang="en-US" altLang="zh-CN" dirty="0"/>
              <a:t>—— </a:t>
            </a:r>
            <a:r>
              <a:rPr lang="zh-CN" altLang="en-US" dirty="0"/>
              <a:t>这个小本本就是</a:t>
            </a:r>
            <a:r>
              <a:rPr lang="zh-CN" altLang="en-US" b="1" dirty="0"/>
              <a:t>指针</a:t>
            </a:r>
            <a:r>
              <a:rPr lang="zh-CN" altLang="en-US" dirty="0"/>
              <a:t>。</a:t>
            </a:r>
          </a:p>
          <a:p>
            <a:br>
              <a:rPr lang="zh-CN" altLang="en-US" dirty="0"/>
            </a:br>
            <a:r>
              <a:rPr lang="zh-CN" altLang="en-US" dirty="0"/>
              <a:t>你想找 </a:t>
            </a:r>
            <a:r>
              <a:rPr lang="en-US" altLang="zh-CN" dirty="0"/>
              <a:t>502 </a:t>
            </a:r>
            <a:r>
              <a:rPr lang="zh-CN" altLang="en-US" dirty="0"/>
              <a:t>室的东西，不用记住地址，看小本本（指针）就行。</a:t>
            </a:r>
          </a:p>
          <a:p>
            <a:r>
              <a:rPr lang="zh-CN" altLang="en-US" b="1" dirty="0"/>
              <a:t>关系一句话：</a:t>
            </a:r>
          </a:p>
          <a:p>
            <a:r>
              <a:rPr lang="zh-CN" altLang="en-US" dirty="0"/>
              <a:t>指针是 “存地址的容器”，地址是 “指针里存的内容”。</a:t>
            </a:r>
            <a:br>
              <a:rPr lang="zh-CN" altLang="en-US" dirty="0"/>
            </a:br>
            <a:r>
              <a:rPr lang="zh-CN" altLang="en-US" dirty="0"/>
              <a:t>就像 “小本本”（指针）里写着 “</a:t>
            </a:r>
            <a:r>
              <a:rPr lang="en-US" altLang="zh-CN" dirty="0"/>
              <a:t>502 </a:t>
            </a:r>
            <a:r>
              <a:rPr lang="zh-CN" altLang="en-US" dirty="0"/>
              <a:t>室”（地址）。</a:t>
            </a:r>
          </a:p>
          <a:p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7661B0-4ED9-3206-51AD-A55103930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1" y="5160151"/>
            <a:ext cx="906658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Arial Unicode MS" panose="020B0604020202020204" pitchFamily="34" charset="-122"/>
                <a:ea typeface="Menlo"/>
              </a:rPr>
              <a:t>int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 a =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E54595"/>
                </a:solidFill>
                <a:effectLst/>
                <a:latin typeface="Arial Unicode MS" panose="020B0604020202020204" pitchFamily="34" charset="-122"/>
                <a:ea typeface="Menlo"/>
              </a:rPr>
              <a:t>10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; // 变量a存着10，假设它在内存中的地址是0x1234（相当于502室）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Arial Unicode MS" panose="020B0604020202020204" pitchFamily="34" charset="-122"/>
                <a:ea typeface="Menlo"/>
              </a:rPr>
              <a:t>int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 *p; // p是指针（小本本）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p = &amp;a; // &amp;a是取a的地址（0x1234），把这个地址写到p里（小本本记上502室）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97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89336-765E-CE93-1784-48C1A451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万能指针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48DE5-2FD6-40CD-9082-88CF54157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万能指针（</a:t>
            </a:r>
            <a:r>
              <a:rPr lang="en-US" altLang="zh-CN" dirty="0"/>
              <a:t>void*</a:t>
            </a:r>
            <a:r>
              <a:rPr lang="zh-CN" altLang="en-US" dirty="0"/>
              <a:t>）：不挑货物的 “通用快递单”</a:t>
            </a:r>
          </a:p>
          <a:p>
            <a:r>
              <a:rPr lang="zh-CN" altLang="en-US" dirty="0"/>
              <a:t>想象一张快递单，上面不写具体寄的是什么东西（比如衣服、电器），只写 “收件地址”。</a:t>
            </a:r>
          </a:p>
          <a:p>
            <a:r>
              <a:rPr lang="zh-CN" altLang="en-US" dirty="0"/>
              <a:t>这就是 </a:t>
            </a:r>
            <a:r>
              <a:rPr lang="en-US" altLang="zh-CN" dirty="0"/>
              <a:t>void*</a:t>
            </a:r>
            <a:r>
              <a:rPr lang="zh-CN" altLang="en-US" dirty="0"/>
              <a:t>，它不指定指向的数据类型，只存地址，像个 “通用容器”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08FE68-338E-6A0B-990E-C494241F7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645" y="4326495"/>
            <a:ext cx="316753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Arial Unicode MS" panose="020B0604020202020204" pitchFamily="34" charset="-122"/>
                <a:ea typeface="Menlo"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 a =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E54595"/>
                </a:solidFill>
                <a:effectLst/>
                <a:latin typeface="Arial Unicode MS" panose="020B0604020202020204" pitchFamily="34" charset="-122"/>
                <a:ea typeface="Menlo"/>
              </a:rPr>
              <a:t>10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Arial Unicode MS" panose="020B0604020202020204" pitchFamily="34" charset="-122"/>
                <a:ea typeface="Menlo"/>
              </a:rPr>
              <a:t>char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 c = 'A’;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B15EF2"/>
                </a:solidFill>
                <a:effectLst/>
                <a:latin typeface="Arial Unicode MS" panose="020B0604020202020204" pitchFamily="34" charset="-122"/>
                <a:ea typeface="Menlo"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* p; // 万能指针，不挑类型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p = &amp;a; // 可以指向int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  <a:ea typeface="Menlo"/>
              </a:rPr>
              <a:t>p = &amp;c; // 也可以指向char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5F3FE96-2A32-F225-9364-77DA49117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923" y="3772498"/>
            <a:ext cx="5130800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限制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nter"/>
              </a:rPr>
              <a:t>：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你不能直接通过 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  <a:ea typeface="Menlo"/>
              </a:rPr>
              <a:t>p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 取数据（比如 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  <a:ea typeface="Menlo"/>
              </a:rPr>
              <a:t>*p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），因为它不知道数据类型（比如是 4 字节的 int 还是 1 字节的 char）。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要用的时候，必须先 “转型” 成具体类型（比如 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  <a:ea typeface="Menlo"/>
              </a:rPr>
              <a:t>(int*)p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）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即强制类型转换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4472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C2EA6-47CC-B43C-8DA4-E27D4B3A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</a:t>
            </a:r>
            <a:r>
              <a:rPr lang="zh-CN" altLang="en-US" dirty="0"/>
              <a:t>修饰的指针，表示只读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98294-C199-B3AA-6741-16972DA2B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封印数据：</a:t>
            </a:r>
            <a:r>
              <a:rPr lang="en-US" altLang="zh-CN" dirty="0"/>
              <a:t>const int* p</a:t>
            </a:r>
            <a:r>
              <a:rPr lang="zh-CN" altLang="en-US" dirty="0"/>
              <a:t>（指针可以改，但数据不能改）</a:t>
            </a:r>
          </a:p>
          <a:p>
            <a:r>
              <a:rPr lang="zh-CN" altLang="en-US" dirty="0"/>
              <a:t>就像快递单上写着：“地址可以改，但箱子里的东西不能动”。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封印指针：</a:t>
            </a:r>
            <a:r>
              <a:rPr lang="en-US" altLang="zh-CN" dirty="0"/>
              <a:t>int* const p</a:t>
            </a:r>
            <a:r>
              <a:rPr lang="zh-CN" altLang="en-US" dirty="0"/>
              <a:t>（指针不能改，但数据可以改）</a:t>
            </a:r>
          </a:p>
          <a:p>
            <a:r>
              <a:rPr lang="zh-CN" altLang="en-US" dirty="0"/>
              <a:t>快递单上写着：“地址不能改，但箱子里的东西可以动”。</a:t>
            </a:r>
          </a:p>
          <a:p>
            <a:endParaRPr lang="zh-CN" alt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1B49C3-28A2-3A83-44E9-CF3F48B6A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07" y="4224565"/>
            <a:ext cx="4570482" cy="5924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8088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</a:rPr>
              <a:t>const </a:t>
            </a:r>
            <a:r>
              <a:rPr lang="zh-CN" altLang="en-US" dirty="0">
                <a:latin typeface="Arial" panose="020B0604020202020204" pitchFamily="34" charset="0"/>
              </a:rPr>
              <a:t>在 * 左边（</a:t>
            </a:r>
            <a:r>
              <a:rPr lang="en-US" altLang="zh-CN" dirty="0">
                <a:latin typeface="Arial" panose="020B0604020202020204" pitchFamily="34" charset="0"/>
              </a:rPr>
              <a:t>const int*</a:t>
            </a:r>
            <a:r>
              <a:rPr lang="zh-CN" altLang="en-US" dirty="0">
                <a:latin typeface="Arial" panose="020B0604020202020204" pitchFamily="34" charset="0"/>
              </a:rPr>
              <a:t>）→ 封印数据；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</a:rPr>
              <a:t>const </a:t>
            </a:r>
            <a:r>
              <a:rPr lang="zh-CN" altLang="en-US" dirty="0">
                <a:latin typeface="Arial" panose="020B0604020202020204" pitchFamily="34" charset="0"/>
              </a:rPr>
              <a:t>在 * 右边（</a:t>
            </a:r>
            <a:r>
              <a:rPr lang="en-US" altLang="zh-CN" dirty="0">
                <a:latin typeface="Arial" panose="020B0604020202020204" pitchFamily="34" charset="0"/>
              </a:rPr>
              <a:t>int* const</a:t>
            </a:r>
            <a:r>
              <a:rPr lang="zh-CN" altLang="en-US" dirty="0">
                <a:latin typeface="Arial" panose="020B0604020202020204" pitchFamily="34" charset="0"/>
              </a:rPr>
              <a:t>）→ 封印指针。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7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886</Words>
  <Application>Microsoft Office PowerPoint</Application>
  <PresentationFormat>宽屏</PresentationFormat>
  <Paragraphs>49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Arial Unicode MS</vt:lpstr>
      <vt:lpstr>Inter</vt:lpstr>
      <vt:lpstr>等线</vt:lpstr>
      <vt:lpstr>等线 Light</vt:lpstr>
      <vt:lpstr>Arial</vt:lpstr>
      <vt:lpstr>Office 主题​​</vt:lpstr>
      <vt:lpstr>PowerPoint 演示文稿</vt:lpstr>
      <vt:lpstr>函数</vt:lpstr>
      <vt:lpstr>如何区分形参和实参</vt:lpstr>
      <vt:lpstr>PowerPoint 演示文稿</vt:lpstr>
      <vt:lpstr>PowerPoint 演示文稿</vt:lpstr>
      <vt:lpstr>PowerPoint 演示文稿</vt:lpstr>
      <vt:lpstr>指针</vt:lpstr>
      <vt:lpstr>空指针和野指针</vt:lpstr>
      <vt:lpstr>指针和地址的关系</vt:lpstr>
      <vt:lpstr>万能指针</vt:lpstr>
      <vt:lpstr>Const修饰的指针，表示只读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Haodong Zheng</dc:creator>
  <cp:lastModifiedBy>Haodong Zheng</cp:lastModifiedBy>
  <cp:revision>3</cp:revision>
  <dcterms:created xsi:type="dcterms:W3CDTF">2025-07-25T08:37:24Z</dcterms:created>
  <dcterms:modified xsi:type="dcterms:W3CDTF">2025-09-30T17:46:24Z</dcterms:modified>
</cp:coreProperties>
</file>